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封面 — 时光悦酩公寓底商市场调研报告
**副标题：** 浙江省杭州市上城区驿城路
**日期：** 2026年3月
**风格备注：** 商务简洁，专业感，领导汇报风格
**内容要素：**
- 主标题：时光悦酩公寓底商市场调研报告
- 副标题：浙江省杭州市上城区驿城路
- 底部：2026年3月 | 出差汇报版
**画风：** corporate, clean, professional, geometric, cool tones, geometric background, real estate report style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目录页
**标题：** 报告目录
**目录项（6项）：**
1. 项目基本情况
2. 区域商圈分析
3. 底商人流分析
4. 业态组合建议
5. 客户管理策略
6. 综合研判与建议
**画风：** corporate, clean, professional, numbered list, cool blue tones, geometric layout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项目基本情况
**标题：** 项目基本情况
**核心数据（以表格或卡片呈现）：**
- 位置：杭州上城区驿城路，火车东站商圈
- 开发企业：杭州弘驿置业有限公司
- 物业公司：杭州新天地高力国际物业管理有限公司
- 总户数：1961户
- 楼栋数：18栋
- 绿化率：30%
- 容积率：2.2
- 物业费：2.75–2.8元/㎡/月
- 二手房挂牌均价：约38,727元/㎡（2026年2月）
**定位结论：** 住宅底商，服务本社区及周边短距离客群
**画风：** corporate, data cards layout, clean table, professional real estate report style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区域商圈分析
**标题：** 区域商圈分析 — 火车东站商圈
**核心要点：**
- 交通枢纽导流：杭州东站系长三角核心枢纽，日均客流庞大
- 住宅密度高：周边多个成熟小区，常住人口基数大
- 商业配套成熟：1公里内有弄口滨河汇生活广场、江南晟世生活广场
- 竞争项目多：区域内住宅底商体量大，同质化竞争压力存在
**地图标注建议：** 标注时光悦酩公寓位置 + 周边商业体 + 地铁站
**画风：** corporate, location map style, annotation markers, professional business report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杭州市商业宏观数据
**标题：** 杭州市零售商业市场数据（2025年）
**关键数据（以图表/数据卡片呈现）：**
- 全市优质商业存量：1775.3万㎡
- 2025年新增供应：105万㎡
- 平均租金：6.48元/天/㎡（较2024年↓3.4%）
- 全市平均空置率：9.7%（↑0.8个百分点）
- 城东新城等非核心区空置率：**超15%** ⚠️
**结论：** 非核心商圈空置率偏高，底商面临竞争压力
**画风：** corporate, data dashboard, KPI cards, charts, professional market report style, cool blue tones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底商人流分析
**标题：** 底商人流分析
**人流来源结构（以图表或分栏卡片呈现）：**
| 客群类型 | 特征 | 消费能力 |
|---------|------|---------|
| 本社区居民 | 1961户，约5000-6000人 | 中等，日常消费 |
| 周边小区居民 | 步行5-10分钟可达 | 中等偏低 |
| 地铁通勤客流 | 驿城路站通勤人群 | 随机性消费 |
| 火车东站转乘 | 出差人群 | 低频，价格敏感 |
**峰值时段：** 早7-9点（早餐）/ 午11:30-13:30（快餐）/ 晚17:30-20:00（生活服务）
**画风：** corporate, people flow diagram, segmented bars, time indicators, professional analysis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业态组合建议
**标题：** 业态组合建议
**业态推荐（以网格/卡片形式呈现，含优先级标注）：**
⭐⭐⭐ 必须配套：便利店/生鲜超市、早餐/快餐
⭐⭐ 重要：快递驿站、美容美发/美甲、社区教育培训
⭐ 可选：宠物店/宠物服务
⭐ 慎选：棋牌室（扰民风险高）
**业态禁区：** 重油烟餐饮（烧烤、川菜火锅）、棋牌室
**核心逻辑：** 便民+高频，差异化竞争
**画风：** corporate, grid layout, icon cards, priority stars, professional business recommendation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营商环境痛点
**标题：** 营商环境痛点
**四大痛点（以图标列表呈现）：**
1. **同质化严重** — 周边底商以餐饮为主，差异化不足
2. **消费力分层** — 区域以刚需客群为主，客单价提升空间有限
3. **电商冲击** — 便利店+餐饮受线上配送分流严重
4. **停车不便** — 住宅底商停车位普遍不足，制约大宗消费
**画风：** corporate, icon list, 2x2 grid, warning indicators, professional business report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客户分层管理模型
**标题：** 客户分层管理模型（ABC分类）
**三类租户（以三栏对比呈现）：**
**A类 — 核心客户**
- 特征：品牌连锁、现金流稳定、租约3年以上
- 策略：给予免租装修期、租金优惠，重点维护
**B类 — 成长客户**
- 特征：运营稳定、合同面积中等
- 策略：每年续约谈递增，保持沟通频率
**C类 — 淘汰客户**
- 特征：频繁欠租、业态不符合定位
- 策略：租约到期不续，提前储备替代品牌
**画风：** corporate, three-column comparison, A/B/C class indicators, professional tenant management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客户维护措施
**标题：** 客户维护具体措施
**两大板块（以左右分栏呈现）：**
**日常维护**
- 建立租户微信群，节假日发送问候+活动信息
- 每季度至少一次上门拜访，了解经营状况
- 及时响应报修需求，物业服务响应速度是关键
**租约管理**
- 主力租户（&gt;100㎡）签约不超过3年，年度租金递增3%-5%
- 小型租户（&lt;50㎡）可签1+1模式，第二年根据表现续约
- 建立"租金预警"机制：逾期15天以上主动介入
**画风：** corporate, two-column layout, checklist style, professional property management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综合研判与建议
**标题：** 综合研判与建议
**机会（左侧，绿色标注）：**
- 地铁导流+1961户社区居民，稳定基础客群
- 社区配套型业态（便利店、快递驿站）抗电商冲击能力强
- 空置率偏高→竞争洗牌后优质底商更稀缺
**风险（右侧，红色标注）：**
- 城东新城非核心商圈，租金上行空间有限
- 同质化严重，差异化能力是关键
- 区域消费力分流，需精准定位客群
**核心建议（底部，重点强调）：**
业态组合优先"便民+高频" | 建立ABC租户分级管理 | 利用地铁人流峰值导流 | 控制单店面积抗风险
**画风：** corporate, opportunity vs risk split, pros/cons layout, professional strategy summary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封底
**内容：**
- 主文字：谢谢
- 副文字：时光悦酩公寓底商市场调研报告
- 底部：2026年3月
**画风：** corporate, minimal, clean, centered text, professional closing slide, dark or light background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Generated Slide Deck</dc:subject>
  <dc:creator>baoyu-slide-deck</dc:creator>
  <cp:lastModifiedBy>baoyu-slide-deck</cp:lastModifiedBy>
  <cp:revision>1</cp:revision>
  <dcterms:created xsi:type="dcterms:W3CDTF">2026-03-30T03:40:58Z</dcterms:created>
  <dcterms:modified xsi:type="dcterms:W3CDTF">2026-03-30T03:40:58Z</dcterms:modified>
</cp:coreProperties>
</file>