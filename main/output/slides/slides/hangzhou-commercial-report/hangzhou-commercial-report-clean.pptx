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时光悦酩公寓底商市场调研报告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4C8E6"/>
                </a:solidFill>
              </a:defRPr>
            </a:pPr>
            <a:r>
              <a:t>浙江省杭州市上城区驿城路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2A0C8"/>
                </a:solidFill>
              </a:defRPr>
            </a:pPr>
            <a:r>
              <a:t>2026年3月  |  出差汇报版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报告目录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4552" cy="3810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01  项目基本情况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02  区域商圈分析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03  杭州市商业宏观数据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04  底商人流分析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05  业态组合建议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06  营商环境痛点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07  客户分层管理策略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08  综合研判与建议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项目基本情况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4552" cy="3810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位置  杭州市上城区驿城路，火车东站商圈核心辐射范围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开发企业  杭州弘驿置业有限公司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物业公司  杭州新天地高力国际物业管理有限公司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总户数  1961户  |  楼栋数：18栋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绿化率  30%  |  容积率：2.2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物业费  2.75-2.8元/m2/月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二手房挂牌均价  约38,727元/m2（2026年2月）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定位  住宅底商，服务本社区及周边短距离客群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69696"/>
                </a:solidFill>
              </a:defRPr>
            </a:pPr>
            <a:r>
              <a:t>数据来源：链家、贝壳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区域商圈分析 - 火车东站商圈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4552" cy="3810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交通枢纽  杭州东站系长三角核心枢纽，日均客流庞大，带来过境消费人群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住宅密度  周边多个成熟小区（天聚府、明月嘉苑等），常住人口基数大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商业配套  1公里内有弄口滨河汇生活广场、江南晟世生活广场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竞争压力  区域内住宅底商体量大，同质化竞争激烈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地铁优势  紧邻地铁9号线驿城路站，步行约350米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杭州市零售商业市场数据（2025年）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4552" cy="3810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45920"/>
            <a:ext cx="1965960" cy="2743200"/>
          </a:xfrm>
          <a:prstGeom prst="rect">
            <a:avLst/>
          </a:prstGeom>
          <a:solidFill>
            <a:srgbClr val="F0F5FC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64B4"/>
                </a:solidFill>
              </a:defRPr>
            </a:pPr>
            <a:r>
              <a:t>1775.3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82A0"/>
                </a:solidFill>
              </a:defRPr>
            </a:pPr>
            <a:r>
              <a:t>万m2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C3C3C"/>
                </a:solidFill>
              </a:defRPr>
            </a:pPr>
            <a:r>
              <a:t>全市优质商业存量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645920"/>
            <a:ext cx="1965960" cy="2743200"/>
          </a:xfrm>
          <a:prstGeom prst="rect">
            <a:avLst/>
          </a:prstGeom>
          <a:solidFill>
            <a:srgbClr val="F0F5FC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828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64B4"/>
                </a:solidFill>
              </a:defRPr>
            </a:pPr>
            <a:r>
              <a:t>105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82A0"/>
                </a:solidFill>
              </a:defRPr>
            </a:pPr>
            <a:r>
              <a:t>万m2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24612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C3C3C"/>
                </a:solidFill>
              </a:defRPr>
            </a:pPr>
            <a:r>
              <a:t>2025年新增供应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645920"/>
            <a:ext cx="1965960" cy="2743200"/>
          </a:xfrm>
          <a:prstGeom prst="rect">
            <a:avLst/>
          </a:prstGeom>
          <a:solidFill>
            <a:srgbClr val="F0F5FC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828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64B4"/>
                </a:solidFill>
              </a:defRPr>
            </a:pPr>
            <a:r>
              <a:t>6.48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82A0"/>
                </a:solidFill>
              </a:defRPr>
            </a:pPr>
            <a:r>
              <a:t>元/天/m2  |  较去年↓3.4%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24612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C3C3C"/>
                </a:solidFill>
              </a:defRPr>
            </a:pPr>
            <a:r>
              <a:t>优质商业平均租金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0" y="1645920"/>
            <a:ext cx="1965960" cy="2743200"/>
          </a:xfrm>
          <a:prstGeom prst="rect">
            <a:avLst/>
          </a:prstGeom>
          <a:solidFill>
            <a:srgbClr val="F0F5FC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1828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64B4"/>
                </a:solidFill>
              </a:defRPr>
            </a:pPr>
            <a:r>
              <a:t>9.7%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82A0"/>
                </a:solidFill>
              </a:defRPr>
            </a:pPr>
            <a:r>
              <a:t>较去年↑0.8pp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24612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C3C3C"/>
                </a:solidFill>
              </a:defRPr>
            </a:pPr>
            <a:r>
              <a:t>全市平均空置率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1645920"/>
            <a:ext cx="1965960" cy="2743200"/>
          </a:xfrm>
          <a:prstGeom prst="rect">
            <a:avLst/>
          </a:prstGeom>
          <a:solidFill>
            <a:srgbClr val="F0F5FC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1828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64B4"/>
                </a:solidFill>
              </a:defRPr>
            </a:pPr>
            <a:r>
              <a:t>&gt;15%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82A0"/>
                </a:solidFill>
              </a:defRPr>
            </a:pPr>
            <a:r>
              <a:t>非核心商圈  |  需重点关注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24612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C3C3C"/>
                </a:solidFill>
              </a:defRPr>
            </a:pPr>
            <a:r>
              <a:t>城东新城空置率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1908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69696"/>
                </a:solidFill>
              </a:defRPr>
            </a:pPr>
            <a:r>
              <a:t>数据来源：戴德梁行《2025年杭州商业地产报告》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底商人流分析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4552" cy="3810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社区居民  1961户，约5000-6000人 | 中等消费，日常刚需为主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周边居民  步行5-10分钟可达 | 中等偏低消费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地铁客流  驿城路站通勤人群 | 随机性消费，便利性需求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东站转乘  出差/过境人群 | 低频，价格敏感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峰值时段  早7-9点（早餐）| 午11:30-13:30（快餐）| 晚17:30-20:00（生活服务）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人流短板  距火车东站主入口约800米，过境客流转化率有限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69696"/>
                </a:solidFill>
              </a:defRPr>
            </a:pPr>
            <a:r>
              <a:t>注：人流数据为公开信息推断，建议实地调研核实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业态组合建议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4552" cy="3810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66160" cy="50292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必须配套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</a:defRPr>
            </a:pPr>
            <a:r>
              <a:t>* 便利店/生鲜超市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</a:defRPr>
            </a:pPr>
            <a:r>
              <a:t>* 早餐/快餐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566160" cy="50292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417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重要业态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01168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</a:defRPr>
            </a:pPr>
            <a:r>
              <a:t>* 快递驿站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</a:defRPr>
            </a:pPr>
            <a:r>
              <a:t>* 美容美发/美甲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</a:defRPr>
            </a:pPr>
            <a:r>
              <a:t>* 社区教育培训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371600"/>
            <a:ext cx="3566160" cy="50292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417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可选/慎选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</a:defRPr>
            </a:pPr>
            <a:r>
              <a:t>* 宠物店（可选）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</a:defRPr>
            </a:pPr>
            <a:r>
              <a:t>* 棋牌室（慎选）</a:t>
            </a:r>
          </a:p>
          <a:p>
            <a:pPr>
              <a:spcAft>
                <a:spcPts val="800"/>
              </a:spcAft>
              <a:defRPr sz="1500">
                <a:solidFill>
                  <a:srgbClr val="1E1E1E"/>
                </a:solidFill>
              </a:defRPr>
            </a:pPr>
            <a:r>
              <a:t>* 重油烟餐饮（禁止）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营商环境痛点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4552" cy="3810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B43232"/>
                </a:solidFill>
              </a:defRPr>
            </a:pPr>
            <a:r>
              <a:t>[!] 同质化：周边底商以餐饮为主，差异化不足</a:t>
            </a:r>
          </a:p>
          <a:p>
            <a:pPr>
              <a:spcAft>
                <a:spcPts val="1600"/>
              </a:spcAft>
              <a:defRPr sz="2000">
                <a:solidFill>
                  <a:srgbClr val="B43232"/>
                </a:solidFill>
              </a:defRPr>
            </a:pPr>
            <a:r>
              <a:t>[!] 消费力：区域以刚需客群为主，客单价提升空间有限</a:t>
            </a:r>
          </a:p>
          <a:p>
            <a:pPr>
              <a:spcAft>
                <a:spcPts val="1600"/>
              </a:spcAft>
              <a:defRPr sz="2000">
                <a:solidFill>
                  <a:srgbClr val="B43232"/>
                </a:solidFill>
              </a:defRPr>
            </a:pPr>
            <a:r>
              <a:t>[!] 电商冲击：便利店+餐饮受线上配送分流，线下体验型业态更具优势</a:t>
            </a:r>
          </a:p>
          <a:p>
            <a:pPr>
              <a:spcAft>
                <a:spcPts val="1600"/>
              </a:spcAft>
              <a:defRPr sz="2000">
                <a:solidFill>
                  <a:srgbClr val="B43232"/>
                </a:solidFill>
              </a:defRPr>
            </a:pPr>
            <a:r>
              <a:t>[!] 停车难：住宅底商停车位普遍不足，制约大宗消费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客户分层管理模型（ABC分类）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4552" cy="3810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66160" cy="502920"/>
          </a:xfrm>
          <a:prstGeom prst="rect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A类 - 核心客户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- 品牌连锁/现金流稳定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- 租约3年以上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- 免租装修期优惠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- 重点维护关系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566160" cy="502920"/>
          </a:xfrm>
          <a:prstGeom prst="rect">
            <a:avLst/>
          </a:prstGeom>
          <a:solidFill>
            <a:srgbClr val="C8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417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B类 - 成长客户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01168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- 运营稳定/面积中等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- 每年谈递增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- 保持沟通频率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- 观察培养潜力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371600"/>
            <a:ext cx="3566160" cy="502920"/>
          </a:xfrm>
          <a:prstGeom prst="rect">
            <a:avLst/>
          </a:prstGeom>
          <a:solidFill>
            <a:srgbClr val="B4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417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C类 - 淘汰客户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- 频繁欠租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- 业态不符合定位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- 到期不续约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</a:defRPr>
            </a:pPr>
            <a:r>
              <a:t>- 提前储备替代品牌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客户维护具体措施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4552" cy="3810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日常维护  建立租户微信群，节假日问候+活动推送；每季度上门拜访，了解经营状况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物业服务  及时响应报修需求，服务响应速度是核心竞争力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租约管理  主力租户（&gt;100m2）签约不超过3年，年度递增3%-5%；小型租户（&lt;50m2）签1+1模式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风险预警  逾期15天以上主动介入，提前化解欠租风险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业态管控  禁止重油烟餐饮、棋牌室；鼓励轻餐饮、烘焙、宠物、教育培训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综合研判与建议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4552" cy="3810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394960" cy="4572000"/>
          </a:xfrm>
          <a:prstGeom prst="rect">
            <a:avLst/>
          </a:prstGeom>
          <a:solidFill>
            <a:srgbClr val="E8F5E9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</a:defRPr>
            </a:pPr>
            <a:r>
              <a:t>[+] 机会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3C1E"/>
                </a:solidFill>
              </a:defRPr>
            </a:pPr>
            <a:r>
              <a:t>- 地铁9号线+1961户社区居民，稳定基础客群</a:t>
            </a:r>
          </a:p>
          <a:p>
            <a:pPr>
              <a:spcAft>
                <a:spcPts val="1000"/>
              </a:spcAft>
              <a:defRPr sz="1500">
                <a:solidFill>
                  <a:srgbClr val="1E3C1E"/>
                </a:solidFill>
              </a:defRPr>
            </a:pPr>
            <a:r>
              <a:t>- 社区配套型业态（便利店/快递）抗电商冲击能力强</a:t>
            </a:r>
          </a:p>
          <a:p>
            <a:pPr>
              <a:spcAft>
                <a:spcPts val="1000"/>
              </a:spcAft>
              <a:defRPr sz="1500">
                <a:solidFill>
                  <a:srgbClr val="1E3C1E"/>
                </a:solidFill>
              </a:defRPr>
            </a:pPr>
            <a:r>
              <a:t>- 空置率偏高，竞争洗牌后优质底商更稀缺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394960" cy="4572000"/>
          </a:xfrm>
          <a:prstGeom prst="rect">
            <a:avLst/>
          </a:prstGeom>
          <a:solidFill>
            <a:srgbClr val="FFEBEE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71C1C"/>
                </a:solidFill>
              </a:defRPr>
            </a:pPr>
            <a:r>
              <a:t>[-] 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C1E1E"/>
                </a:solidFill>
              </a:defRPr>
            </a:pPr>
            <a:r>
              <a:t>- 城东新城非核心商圈，租金上行空间有限</a:t>
            </a:r>
          </a:p>
          <a:p>
            <a:pPr>
              <a:spcAft>
                <a:spcPts val="1000"/>
              </a:spcAft>
              <a:defRPr sz="1500">
                <a:solidFill>
                  <a:srgbClr val="3C1E1E"/>
                </a:solidFill>
              </a:defRPr>
            </a:pPr>
            <a:r>
              <a:t>- 区域内底商同质化严重，差异化能力是关键</a:t>
            </a:r>
          </a:p>
          <a:p>
            <a:pPr>
              <a:spcAft>
                <a:spcPts val="1000"/>
              </a:spcAft>
              <a:defRPr sz="1500">
                <a:solidFill>
                  <a:srgbClr val="3C1E1E"/>
                </a:solidFill>
              </a:defRPr>
            </a:pPr>
            <a:r>
              <a:t>- 消费力分流，需精准定位客群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035040"/>
            <a:ext cx="11274552" cy="45720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053328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核心建议：业态优先便民+高频 | ABC租户分级管理 | 利用地铁人流峰值导流 | 控制单店面积抗风险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C8E6"/>
                </a:solidFill>
              </a:defRPr>
            </a:pPr>
            <a:r>
              <a:t>时光悦酩公寓底商市场调研报告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2A0C8"/>
                </a:solidFill>
              </a:defRPr>
            </a:pPr>
            <a:r>
              <a:t>2026年3月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